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82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6B1525"/>
          </a:solidFill>
          <a:ln/>
        </p:spPr>
      </p:sp>
      <p:pic>
        <p:nvPicPr>
          <p:cNvPr id="4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868680"/>
            <a:ext cx="2167694" cy="960120"/>
          </a:xfrm>
          <a:prstGeom prst="rect">
            <a:avLst/>
          </a:prstGeom>
        </p:spPr>
      </p:pic>
      <p:pic>
        <p:nvPicPr>
          <p:cNvPr id="5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60120"/>
            <a:ext cx="1401032" cy="841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6060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Pronosticar la producción de un pozo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4722876" y="3703320"/>
            <a:ext cx="2743200" cy="36576"/>
          </a:xfrm>
          <a:prstGeom prst="rect">
            <a:avLst/>
          </a:prstGeom>
          <a:solidFill>
            <a:srgbClr val="C82B40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3977640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Clase 1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14400" y="43891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tiempo, exploración de datos y el primer pronóstico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57150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Enrique Mosquera Trujillo     ·     SLB Ecuador     ·    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por el problema, no por la herramienta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143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31 de enero de 2014. Gerencia arma el presupuesto del año y necesita una sola cosa: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94560" y="164592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BEBED"/>
          </a:solidFill>
          <a:ln/>
        </p:spPr>
      </p:sp>
      <p:sp>
        <p:nvSpPr>
          <p:cNvPr id="9" name="Text 5"/>
          <p:cNvSpPr/>
          <p:nvPr/>
        </p:nvSpPr>
        <p:spPr>
          <a:xfrm>
            <a:off x="219456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«¿Cuánto va a producir el pozo 15/9-F-14 los próximos 6 meses?»</a:t>
            </a:r>
            <a:endParaRPr lang="en-US" sz="2100" dirty="0"/>
          </a:p>
        </p:txBody>
      </p:sp>
      <p:pic>
        <p:nvPicPr>
          <p:cNvPr id="10" name="Image 2" descr="../fig_v3/a1_encar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796" y="2743200"/>
            <a:ext cx="8595360" cy="35624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nombre va en ese número. Toda la clase de hoy existe para producirlo con fundamento.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exactamente, pronosticar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valor futuro de algo usando solo lo que se sabe hasta hoy. Tres decisiones lo definen.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6916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5F7"/>
          </a:solidFill>
          <a:ln/>
        </p:spPr>
      </p:sp>
      <p:sp>
        <p:nvSpPr>
          <p:cNvPr id="9" name="Text 5"/>
          <p:cNvSpPr/>
          <p:nvPr/>
        </p:nvSpPr>
        <p:spPr>
          <a:xfrm>
            <a:off x="969264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69264" y="2286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que hay que estimar, con sus unidades.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9264" y="3063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caso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69264" y="33101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producción diaria del pozo, en barriles por día.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434840" y="16916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5F7"/>
          </a:solidFill>
          <a:ln/>
        </p:spPr>
      </p:sp>
      <p:sp>
        <p:nvSpPr>
          <p:cNvPr id="14" name="Text 10"/>
          <p:cNvSpPr/>
          <p:nvPr/>
        </p:nvSpPr>
        <p:spPr>
          <a:xfrm>
            <a:off x="4672584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cuándo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72584" y="2286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partida. Todo lo posterior es desconocido.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672584" y="3063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caso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2584" y="33101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enero de 2014 — el cierre del último mes.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138160" y="16916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5F7"/>
          </a:solidFill>
          <a:ln/>
        </p:spPr>
      </p:sp>
      <p:sp>
        <p:nvSpPr>
          <p:cNvPr id="19" name="Text 15"/>
          <p:cNvSpPr/>
          <p:nvPr/>
        </p:nvSpPr>
        <p:spPr>
          <a:xfrm>
            <a:off x="8375904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cuándo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375904" y="2286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hacia adelante. Cuanto más lejos, más error.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375904" y="3063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caso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375904" y="33101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meses, mes a mes.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31520" y="4572000"/>
            <a:ext cx="10725912" cy="1143000"/>
          </a:xfrm>
          <a:prstGeom prst="roundRect">
            <a:avLst>
              <a:gd name="adj" fmla="val 6400"/>
            </a:avLst>
          </a:prstGeom>
          <a:solidFill>
            <a:srgbClr val="6B1525"/>
          </a:solidFill>
          <a:ln/>
        </p:spPr>
      </p:sp>
      <p:sp>
        <p:nvSpPr>
          <p:cNvPr id="24" name="Text 20"/>
          <p:cNvSpPr/>
          <p:nvPr/>
        </p:nvSpPr>
        <p:spPr>
          <a:xfrm>
            <a:off x="969264" y="4754880"/>
            <a:ext cx="1025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50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regla que gobierna todo lo demás:  ningún cálculo puede usar información que no existía el 31 de enero de 2014. Si el modelo mira aunque sea un día del futuro, el resultado es una ilusión.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hay herramientas nuevas: hay usos nuevos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 el encargo ya lo aprendieron en los módulos anteriores.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  <a:gridCol w="377647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lo vieron 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Aprendieron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 lo usamos para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1 · Clase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 mismo archivo de producción de Volve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Hacerle la pregunta del presupuesto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3 · Clase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 — predecir un número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modelo que responde el encargo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3 · Clase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el error con costo de negocio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Traducir el error a dólares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3 · Clase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sin hacer trampa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dejar que el modelo vea el futuro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sin etiquetas (K-means, DBSCAN)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con qué historia entrenar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genuinamente nuevo de hoy es el tiempo: qué le hace a los datos y al modelo.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 hoy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preguntas, en orden. Cada una nace de la anterior.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5605272"/>
                <a:gridCol w="82296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haremos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¿Con qué datos contamos?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Conocer el archivo columna por columna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tipo de dato es este?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qué es una serie de tiempo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nos dicen estos datos?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Explorarlos (EDA) con seis herramientas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– 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sabremos si acertamos?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un pronóstico — en barriles y en dólares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– 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pronóstico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Construirlo y entregarlo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turno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mismo encargo, otro pozo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– 120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white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700317" cy="310896"/>
          </a:xfrm>
          <a:prstGeom prst="rect">
            <a:avLst/>
          </a:prstGeom>
        </p:spPr>
      </p:pic>
      <p:pic>
        <p:nvPicPr>
          <p:cNvPr id="3" name="Image 1" descr="../logos/SLB_white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730973" cy="4389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D89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datos contamos?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82880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 archivo antes de tocarlo — columna por columna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20 min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Volve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 real del Mar del Norte, operado por Equinor entre 2008 y 2016.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73736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4F5F7"/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18470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3383280" y="1847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pozos en el campo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297180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4F5F7"/>
          </a:solidFill>
          <a:ln/>
        </p:spPr>
      </p:sp>
      <p:sp>
        <p:nvSpPr>
          <p:cNvPr id="12" name="Text 8"/>
          <p:cNvSpPr/>
          <p:nvPr/>
        </p:nvSpPr>
        <p:spPr>
          <a:xfrm>
            <a:off x="1051560" y="30815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15 634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383280" y="30815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registro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420624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4F5F7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43159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– 2016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3383280" y="4315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años de historia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0" y="173736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BEBED"/>
          </a:solidFill>
          <a:ln/>
        </p:spPr>
      </p:sp>
      <p:sp>
        <p:nvSpPr>
          <p:cNvPr id="18" name="Text 14"/>
          <p:cNvSpPr/>
          <p:nvPr/>
        </p:nvSpPr>
        <p:spPr>
          <a:xfrm>
            <a:off x="6638544" y="190195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existe este archivo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38544" y="2304288"/>
            <a:ext cx="45994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Equinor cerró el campo en 2016, liberó todos sus datos al público. Es de los poquísimos campos del mundo con historia completa abierta — por eso todo el diplomado se apoya en él.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0" y="406908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21" name="Text 17"/>
          <p:cNvSpPr/>
          <p:nvPr/>
        </p:nvSpPr>
        <p:spPr>
          <a:xfrm>
            <a:off x="6638544" y="423367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lo conocen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38544" y="4636008"/>
            <a:ext cx="45994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archivo con el que armaron su reporte de producción en el Módulo 1. Hoy le vamos a hacer una pregunta mucho más exigente.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columnas del archivo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 día de un pozo. Seis columnas, y una de ellas cambia todo lo demás.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793992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contiene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fecha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día al que corresponde el registro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pozo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Cuál de los 7 pozos del campo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horas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Cuántas horas de ese día el pozo estuvo abierto y produciendo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(0 a 24)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oil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barriles de petróleo que salieron ese día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gas producido ese día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pies cúbicos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agua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agua producida ese día — sube con los años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resaltada — horas — es la que casi nadie mira. Y sin ella, todo lo demás se malinterpreta.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días reales del pozo 15/9-F-14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cualquier análisis: miremos filas de verdad, tal como están en el archivo.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28016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2010-09-28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2 825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2 527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2010-09-29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2 847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2 917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2010-09-30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1 122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3 530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2010-10-01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2 653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2 996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2010-10-02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2 857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2 860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583680" y="1920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30 de septiembre produjo 1 122 barriles: menos de la mitad que el día anterior.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583680" y="28803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dañó el pozo?</a:t>
            </a:r>
            <a:endParaRPr lang="en-US" sz="2100" dirty="0"/>
          </a:p>
        </p:txBody>
      </p:sp>
      <p:sp>
        <p:nvSpPr>
          <p:cNvPr id="11" name="Shape 6"/>
          <p:cNvSpPr/>
          <p:nvPr/>
        </p:nvSpPr>
        <p:spPr>
          <a:xfrm>
            <a:off x="6583680" y="3474720"/>
            <a:ext cx="4892040" cy="1463040"/>
          </a:xfrm>
          <a:prstGeom prst="roundRect">
            <a:avLst>
              <a:gd name="adj" fmla="val 5000"/>
            </a:avLst>
          </a:prstGeom>
          <a:solidFill>
            <a:srgbClr val="FBEBED"/>
          </a:solidFill>
          <a:ln/>
        </p:spPr>
      </p:sp>
      <p:sp>
        <p:nvSpPr>
          <p:cNvPr id="12" name="Text 7"/>
          <p:cNvSpPr/>
          <p:nvPr/>
        </p:nvSpPr>
        <p:spPr>
          <a:xfrm>
            <a:off x="6821424" y="3657600"/>
            <a:ext cx="4416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8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Miren la columna horas: ese día el pozo solo estuvo abierto 9.5 horas de las 24. Produjo menos porque operó menos tiempo.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información, en gráfico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columnas del 28 de septiembre al 2 de octubre. La forma es idéntica: no es casualidad.</a:t>
            </a:r>
            <a:endParaRPr lang="en-US" sz="1500" dirty="0"/>
          </a:p>
        </p:txBody>
      </p:sp>
      <p:pic>
        <p:nvPicPr>
          <p:cNvPr id="8" name="Image 2" descr="../fig_v3/c1_vent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691640"/>
            <a:ext cx="9692640" cy="40542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pozo opera menos horas, produce menos barriles. Obvio — y sin embargo el archivo no lo dice.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corrección: de «barriles del día» a «capacidad del pozo»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queremos pronosticar el yacimiento, necesitamos un número que no dependa de cuántas horas abrieron la válvula.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69164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/>
        </p:spPr>
      </p:sp>
      <p:pic>
        <p:nvPicPr>
          <p:cNvPr id="9" name="Image 2" descr="../fig_v3/f_tas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75645"/>
            <a:ext cx="4389120" cy="803591"/>
          </a:xfrm>
          <a:prstGeom prst="rect">
            <a:avLst/>
          </a:prstGeom>
        </p:spPr>
      </p:pic>
      <p:pic>
        <p:nvPicPr>
          <p:cNvPr id="10" name="Image 3" descr="../fig_v3/c2_normaliz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00200"/>
            <a:ext cx="5440680" cy="224409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31520" y="329184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BEBED"/>
          </a:solidFill>
          <a:ln/>
        </p:spPr>
      </p:sp>
      <p:sp>
        <p:nvSpPr>
          <p:cNvPr id="12" name="Text 6"/>
          <p:cNvSpPr/>
          <p:nvPr/>
        </p:nvSpPr>
        <p:spPr>
          <a:xfrm>
            <a:off x="969264" y="345643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acaba de pasar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69264" y="3858768"/>
            <a:ext cx="45537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30 de septiembre produjo 1 122 barriles en 9.5 horas. A ese ritmo, en 24 horas habría producido 2 834 — exactamente lo mismo que sus días vecinos.</a:t>
            </a:r>
            <a:endParaRPr lang="en-US" sz="1400" dirty="0"/>
          </a:p>
          <a:p>
            <a:pPr indent="0" marL="0">
              <a:lnSpc>
                <a:spcPts val="1988"/>
              </a:lnSpc>
              <a:buNone/>
            </a:pPr>
            <a:endParaRPr lang="en-US" sz="1400" dirty="0"/>
          </a:p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pozo nunca cayó. Solo estuvo cerrado parte del día.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este número corregido lo llamaremos la tasa del pozo. Es la variable que vamos a pronosticar.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cuando horas vale cero?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333 días del pozo 15/9-F-14 la columna oil marca cero. Vale la pena preguntarse por qué.</a:t>
            </a:r>
            <a:endParaRPr lang="en-US" sz="1500" dirty="0"/>
          </a:p>
        </p:txBody>
      </p:sp>
      <p:pic>
        <p:nvPicPr>
          <p:cNvPr id="8" name="Image 2" descr="../fig_v3/a3_cer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7406640" cy="291603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321040" y="178308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8558784" y="194767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cruce que lo resuelve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558784" y="2350008"/>
            <a:ext cx="26791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días con oil = 0.</a:t>
            </a:r>
            <a:endParaRPr lang="en-US" sz="1400" dirty="0"/>
          </a:p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días con horas = 0.</a:t>
            </a:r>
            <a:endParaRPr lang="en-US" sz="1400" dirty="0"/>
          </a:p>
          <a:p>
            <a:pPr indent="0" marL="0">
              <a:lnSpc>
                <a:spcPts val="1988"/>
              </a:lnSpc>
              <a:buNone/>
            </a:pPr>
            <a:endParaRPr lang="en-US" sz="1400" dirty="0"/>
          </a:p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 casi uno a uno.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321040" y="388620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8558784" y="405079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558784" y="4453128"/>
            <a:ext cx="2679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ceros no son errores de medición: son el pozo cerrado. Mantenimiento, intervención, parada de plataforma.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cero se marca y se excluye — jamás se «rellena»: rellenarlo inventa producción que nunca existió.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años de operación, de un vistazo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es un día del pozo 15/9-F-14. Así se ve la diferencia entre «el yacimiento» y «la operación».</a:t>
            </a:r>
            <a:endParaRPr lang="en-US" sz="1500" dirty="0"/>
          </a:p>
        </p:txBody>
      </p:sp>
      <p:pic>
        <p:nvPicPr>
          <p:cNvPr id="8" name="Image 2" descr="../fig_v3/a4_disponibil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737360"/>
            <a:ext cx="10424160" cy="39826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8521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intenso = operó las 24 h      ·      rosa = operó parte del día      ·      blanco = cerrado      ·      gris = el día no está en el archivo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franjas blancas y rosas no son yacimiento: son decisiones de operación.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verificación: ¿los 7 pozos son comparables?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agrupar o promediar, conviene contar cuántos días tiene cada pozo — y cuántos sin petróleo.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sin dato de petróleo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15/9-F-11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1 165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15/9-F-12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3 056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15/9-F-14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3 056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15/9-F-1 C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746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15/9-F-4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3 327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3 327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15/9-F-5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3 306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C82B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3 146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309360" y="19659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F-4 y F-5 no producen petróleo ni un solo día en nueve años.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6309360" y="31089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BEBED"/>
          </a:solidFill>
          <a:ln/>
        </p:spPr>
      </p:sp>
      <p:sp>
        <p:nvSpPr>
          <p:cNvPr id="11" name="Text 6"/>
          <p:cNvSpPr/>
          <p:nvPr/>
        </p:nvSpPr>
        <p:spPr>
          <a:xfrm>
            <a:off x="6547104" y="3273552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error del archivo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547104" y="3675888"/>
            <a:ext cx="4690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pozos inyectores: meten agua al yacimiento para mantener la presión. Nunca van a producir.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309360" y="461772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4F5F7"/>
          </a:solidFill>
          <a:ln/>
        </p:spPr>
      </p:sp>
      <p:sp>
        <p:nvSpPr>
          <p:cNvPr id="14" name="Text 9"/>
          <p:cNvSpPr/>
          <p:nvPr/>
        </p:nvSpPr>
        <p:spPr>
          <a:xfrm>
            <a:off x="6547104" y="4782312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enseña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47104" y="5184648"/>
            <a:ext cx="4690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promediar «los pozos del campo», hay que saber qué es cada fila.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Cerrando la pregunta 1: qué vamos a pronosticar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conocer el archivo, la variable del encargo queda definida con precisión.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920240" y="1600200"/>
            <a:ext cx="8321040" cy="1234440"/>
          </a:xfrm>
          <a:prstGeom prst="roundRect">
            <a:avLst>
              <a:gd name="adj" fmla="val 7407"/>
            </a:avLst>
          </a:prstGeom>
          <a:solidFill>
            <a:srgbClr val="FBEBED"/>
          </a:solidFill>
          <a:ln/>
        </p:spPr>
      </p:sp>
      <p:sp>
        <p:nvSpPr>
          <p:cNvPr id="9" name="Text 5"/>
          <p:cNvSpPr/>
          <p:nvPr/>
        </p:nvSpPr>
        <p:spPr>
          <a:xfrm>
            <a:off x="1920240" y="1600200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mensual del pozo 15/9-F-14, en barriles por día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98448" y="318211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Corregida por horas de operación — mide el pozo, no el calendario de la plataforma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1520" y="3913632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98448" y="389534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Excluyendo los días cerrados — un cero no es producción baja, es ausencia de producción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31520" y="4626864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98448" y="4608576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del pozo 15/9-F-14 — es un productor, y es el que pidió gerencia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298448" y="532180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Resumida mes a mes — porque el presupuesto se arma mensual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lo dice el archivo. Lo decidimos nosotros, y por eso hay que poder defenderlo.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white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700317" cy="310896"/>
          </a:xfrm>
          <a:prstGeom prst="rect">
            <a:avLst/>
          </a:prstGeom>
        </p:spPr>
      </p:pic>
      <p:pic>
        <p:nvPicPr>
          <p:cNvPr id="3" name="Image 1" descr="../logos/SLB_white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730973" cy="4389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D89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dato es este?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82880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una serie de tiempo no se trata como las tablas de los módulos anteriores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35 min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de un segundo: barajar las filas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módulos 3 y 4 barajábamos las filas sin pensarlo — es lo que hace train_test_split.</a:t>
            </a:r>
            <a:endParaRPr lang="en-US" sz="1500" dirty="0"/>
          </a:p>
        </p:txBody>
      </p:sp>
      <p:pic>
        <p:nvPicPr>
          <p:cNvPr id="8" name="Image 2" descr="../fig_v3/c6_baraj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1645920"/>
            <a:ext cx="9509760" cy="367241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" y="47091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969264" y="4873752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Hugoton (Módulo 3)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69264" y="5276088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era una profundidad y se explicaba sola. Barajar no destruía nada.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080760" y="47091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6318504" y="487375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18504" y="5276088"/>
            <a:ext cx="4919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Barajar destruye la información. El orden ERA el dato.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una serie de tiempo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donde el orden de las filas es información. Tres propiedades la definen.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/>
        </p:spPr>
      </p:sp>
      <p:sp>
        <p:nvSpPr>
          <p:cNvPr id="9" name="Text 5"/>
          <p:cNvSpPr/>
          <p:nvPr/>
        </p:nvSpPr>
        <p:spPr>
          <a:xfrm>
            <a:off x="969264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ordenada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9264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 instante, y «antes» y «después» significan algo real.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484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/>
        </p:spPr>
      </p:sp>
      <p:sp>
        <p:nvSpPr>
          <p:cNvPr id="12" name="Text 8"/>
          <p:cNvSpPr/>
          <p:nvPr/>
        </p:nvSpPr>
        <p:spPr>
          <a:xfrm>
            <a:off x="4672584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ritmo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72584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observa cada cierto tiempo: cada día, cada mes. Y puede faltar.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BEBED"/>
          </a:solidFill>
          <a:ln/>
        </p:spPr>
      </p:sp>
      <p:sp>
        <p:nvSpPr>
          <p:cNvPr id="15" name="Text 11"/>
          <p:cNvSpPr/>
          <p:nvPr/>
        </p:nvSpPr>
        <p:spPr>
          <a:xfrm>
            <a:off x="8375904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acuerda de sí misma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75904" y="2331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 hoy se parece a lo de ayer. Esta es la propiedad clave.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31520" y="3794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tercera es la que hace posible pronosticar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731520" y="4251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de hoy no dijera nada sobre lo de mañana, no habría nada que aprender: el mejor pronóstico posible sería el promedio histórico, y nos podríamos ir a casa. Más adelante lo vamos a comprobar con una herramienta específica.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trae una consecuencia incómoda: la forma de validar del Módulo 3 aquí no sirve.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qué está hecha una serie de producción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 que un modelo puede aprender de lo que no. En un pozo, cuatro cosas ocurren a la vez.</a:t>
            </a:r>
            <a:endParaRPr lang="en-US" sz="1500" dirty="0"/>
          </a:p>
        </p:txBody>
      </p:sp>
      <p:pic>
        <p:nvPicPr>
          <p:cNvPr id="8" name="Image 2" descr="../fig_v3/a2_cru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5577840" cy="2196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1691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731520" y="202082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declinación: el yacimiento pierde presión y produce cada vez menos.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1520" y="2715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31520" y="30449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que se repiten. En un pozo, casi no existen: no le importa el mes.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31520" y="37398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31520" y="4069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Paradas, intervenciones, cambios de válvula. Son decisiones humanas.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31520" y="47640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31520" y="50932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diaria: medición, cabeceo, condiciones del separador.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943600" y="448056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BEBED"/>
          </a:solidFill>
          <a:ln/>
        </p:spPr>
      </p:sp>
      <p:sp>
        <p:nvSpPr>
          <p:cNvPr id="18" name="Text 13"/>
          <p:cNvSpPr/>
          <p:nvPr/>
        </p:nvSpPr>
        <p:spPr>
          <a:xfrm>
            <a:off x="6181344" y="466344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6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pozo mandan la tendencia y los eventos. La estacionalidad — el corazón de cualquier curso estándar de series de tiempo — aquí casi no aparece.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 práctica: cómo se parte el tiempo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contradice algo que aprendieron bien en el Módulo 3 — y hay que decirlo explícitamente.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/>
        </p:spPr>
      </p:sp>
      <p:sp>
        <p:nvSpPr>
          <p:cNvPr id="9" name="Text 5"/>
          <p:cNvSpPr/>
          <p:nvPr/>
        </p:nvSpPr>
        <p:spPr>
          <a:xfrm>
            <a:off x="969264" y="1856232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hacían antes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69264" y="2258568"/>
            <a:ext cx="4873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reparte las filas al azar: unas para entrenar, otras para evaluar. Correcto cuando las filas son independientes.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080760" y="16916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BEBED"/>
          </a:solidFill>
          <a:ln/>
        </p:spPr>
      </p:sp>
      <p:sp>
        <p:nvSpPr>
          <p:cNvPr id="12" name="Text 8"/>
          <p:cNvSpPr/>
          <p:nvPr/>
        </p:nvSpPr>
        <p:spPr>
          <a:xfrm>
            <a:off x="6318504" y="185623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hacer ahora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18504" y="2258568"/>
            <a:ext cx="4919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por fecha: todo lo anterior al 31-ene-2014 entrena, lo posterior evalúa. Nunca al azar.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31520" y="3931920"/>
            <a:ext cx="10725912" cy="1737360"/>
          </a:xfrm>
          <a:prstGeom prst="roundRect">
            <a:avLst>
              <a:gd name="adj" fmla="val 4211"/>
            </a:avLst>
          </a:prstGeom>
          <a:solidFill>
            <a:srgbClr val="6B1525"/>
          </a:solidFill>
          <a:ln/>
        </p:spPr>
      </p:sp>
      <p:sp>
        <p:nvSpPr>
          <p:cNvPr id="15" name="Text 11"/>
          <p:cNvSpPr/>
          <p:nvPr/>
        </p:nvSpPr>
        <p:spPr>
          <a:xfrm>
            <a:off x="969264" y="4114800"/>
            <a:ext cx="1025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50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Porque al repartir al azar, el modelo entrena con días de junio y lo evalúan con días de marzo — es decir, ya vio el futuro. El resultado se ve espectacular y no sirve para nada.</a:t>
            </a:r>
            <a:endParaRPr lang="en-US" sz="1500" dirty="0"/>
          </a:p>
          <a:p>
            <a:pPr indent="0" marL="0">
              <a:lnSpc>
                <a:spcPts val="2160"/>
              </a:lnSpc>
              <a:buNone/>
            </a:pPr>
            <a:endParaRPr lang="en-US" sz="15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50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2 lo veremos con números: el mismo modelo pasa de «excelente» a «inservible» solo por cambiar cómo se parten los datos.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white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700317" cy="310896"/>
          </a:xfrm>
          <a:prstGeom prst="rect">
            <a:avLst/>
          </a:prstGeom>
        </p:spPr>
      </p:pic>
      <p:pic>
        <p:nvPicPr>
          <p:cNvPr id="3" name="Image 1" descr="../logos/SLB_white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730973" cy="4389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D89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nos dicen estos datos?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82880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Explorarlos antes de modelar — seis herramientas, cada una con su para qué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65 min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los datos: qué es y por qué no se salta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Análisis Exploratorio de Datos. Mirar los datos con preguntas concretas antes de modelar.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7373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/>
        </p:spPr>
      </p:sp>
      <p:sp>
        <p:nvSpPr>
          <p:cNvPr id="9" name="Text 5"/>
          <p:cNvSpPr/>
          <p:nvPr/>
        </p:nvSpPr>
        <p:spPr>
          <a:xfrm>
            <a:off x="987552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comporta el pozo?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87552" y="2304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forma, su ritmo de caída, si cambió de comportamiento.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09360" y="17373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/>
        </p:spPr>
      </p:sp>
      <p:sp>
        <p:nvSpPr>
          <p:cNvPr id="12" name="Text 8"/>
          <p:cNvSpPr/>
          <p:nvPr/>
        </p:nvSpPr>
        <p:spPr>
          <a:xfrm>
            <a:off x="6565392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pasó en el camino?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65392" y="2304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que un modelo nunca podría predecir.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4290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/>
        </p:spPr>
      </p:sp>
      <p:sp>
        <p:nvSpPr>
          <p:cNvPr id="15" name="Text 11"/>
          <p:cNvSpPr/>
          <p:nvPr/>
        </p:nvSpPr>
        <p:spPr>
          <a:xfrm>
            <a:off x="987552" y="3593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algo que pronosticar?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987552" y="3995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serie no tiene memoria, ningún modelo va a ayudar.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309360" y="34290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/>
        </p:spPr>
      </p:sp>
      <p:sp>
        <p:nvSpPr>
          <p:cNvPr id="18" name="Text 14"/>
          <p:cNvSpPr/>
          <p:nvPr/>
        </p:nvSpPr>
        <p:spPr>
          <a:xfrm>
            <a:off x="6565392" y="3593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parte entrenamos?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6565392" y="3995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 la historia sirve. Hay que decidir cuál.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31520" y="521208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6B1525"/>
          </a:solidFill>
          <a:ln/>
        </p:spPr>
      </p:sp>
      <p:sp>
        <p:nvSpPr>
          <p:cNvPr id="21" name="Text 17"/>
          <p:cNvSpPr/>
          <p:nvPr/>
        </p:nvSpPr>
        <p:spPr>
          <a:xfrm>
            <a:off x="969264" y="5394960"/>
            <a:ext cx="10250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50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nos saltamos esto, entregamos un número que nadie puede defender en el comité de presupuesto.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1 — La escala logarítmica: qué es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usarla: en una escala normal, los espacios iguales son restas iguales. En una logarítmica, son multiplicaciones iguales.</a:t>
            </a:r>
            <a:endParaRPr lang="en-US" sz="1500" dirty="0"/>
          </a:p>
        </p:txBody>
      </p:sp>
      <p:pic>
        <p:nvPicPr>
          <p:cNvPr id="8" name="Image 2" descr="../fig_v3/c3_que_es_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16" y="1783080"/>
            <a:ext cx="9418320" cy="39266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solo otra forma de estirar el eje vertical. Nada del dato cambia — cambia lo que se vuelve visible.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1 — Para qué sirve en un pozo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declinación pierde un porcentaje fijo cada mes. Eso, en escala logarítmica, se ve como una línea recta.</a:t>
            </a:r>
            <a:endParaRPr lang="en-US" sz="1500" dirty="0"/>
          </a:p>
        </p:txBody>
      </p:sp>
      <p:pic>
        <p:nvPicPr>
          <p:cNvPr id="8" name="Image 2" descr="../fig_v3/a5_escal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691640"/>
            <a:ext cx="10058400" cy="395458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" y="51206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969264" y="5285232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acabamos de aprender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69264" y="5687568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del F-14 es casi una recta: pierde un porcentaje parecido todos los meses.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080760" y="51206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6318504" y="528523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esto lo vamos a usar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18504" y="568756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esta escala es una recta, entonces una recta será nuestro modelo.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2 — La media móvil: qué es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diario salta demasiado para ver hacia dónde va el pozo. La media móvil promedia una ventana que se va deslizando.</a:t>
            </a:r>
            <a:endParaRPr lang="en-US" sz="1500" dirty="0"/>
          </a:p>
        </p:txBody>
      </p:sp>
      <p:pic>
        <p:nvPicPr>
          <p:cNvPr id="8" name="Image 2" descr="../fig_v3/c4_que_es_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96" y="1691640"/>
            <a:ext cx="8138160" cy="32934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91840" y="4892040"/>
            <a:ext cx="5577840" cy="960120"/>
          </a:xfrm>
          <a:prstGeom prst="roundRect">
            <a:avLst>
              <a:gd name="adj" fmla="val 8571"/>
            </a:avLst>
          </a:prstGeom>
          <a:solidFill>
            <a:srgbClr val="F4F5F7"/>
          </a:solidFill>
          <a:ln/>
        </p:spPr>
      </p:sp>
      <p:pic>
        <p:nvPicPr>
          <p:cNvPr id="10" name="Image 3" descr="../fig_v3/f_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013" y="5120640"/>
            <a:ext cx="3561495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520" y="6053328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rojo es el promedio de los últimos k días. Nada más que eso.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2 — Elegir la ventana es una decisión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pozo con tres ventanas distintas. No hay una correcta: hay una adecuada a la pregunta.</a:t>
            </a:r>
            <a:endParaRPr lang="en-US" sz="1500" dirty="0"/>
          </a:p>
        </p:txBody>
      </p:sp>
      <p:pic>
        <p:nvPicPr>
          <p:cNvPr id="8" name="Image 2" descr="../fig_v3/a6_ventan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7635240" cy="32059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95360" y="178308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8833104" y="19476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corta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833104" y="2350008"/>
            <a:ext cx="2404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de cerca la serie, pero también sigue el ruido.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595360" y="379476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8833104" y="395935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larga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833104" y="4361688"/>
            <a:ext cx="2404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suave, pero llega tarde: en la caída sigue mostrando valores viejos.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media móvil llega tarde: describe el pasado reciente, no el presente.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2 — Un ajuste necesario: la mediana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cerrados valen cero. Un solo cero dentro de la ventana arrastra el promedio hacia abajo.</a:t>
            </a:r>
            <a:endParaRPr lang="en-US" sz="1500" dirty="0"/>
          </a:p>
        </p:txBody>
      </p:sp>
      <p:pic>
        <p:nvPicPr>
          <p:cNvPr id="8" name="Image 2" descr="../fig_v3/a7_medi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7635240" cy="303263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95360" y="1920240"/>
            <a:ext cx="2880360" cy="1737360"/>
          </a:xfrm>
          <a:prstGeom prst="roundRect">
            <a:avLst>
              <a:gd name="adj" fmla="val 4211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8833104" y="2084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833104" y="2487168"/>
            <a:ext cx="2404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cada vez que hay un cierre — aunque el pozo esté bien.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595360" y="3840480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8833104" y="40050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833104" y="4407408"/>
            <a:ext cx="2404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valor del medio: mientras menos de la mitad sean ceros, ni se entera.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en producción la mediana móvil es el resumen por defecto.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3 — La autocorrelación: qué es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la pregunta que dejamos abierta: ¿se acuerda la serie de sí misma? Se comprueba corriéndola y comparándola consigo misma.</a:t>
            </a:r>
            <a:endParaRPr lang="en-US" sz="1500" dirty="0"/>
          </a:p>
        </p:txBody>
      </p:sp>
      <p:pic>
        <p:nvPicPr>
          <p:cNvPr id="8" name="Image 2" descr="../fig_v3/c5_que_es_a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1600200"/>
            <a:ext cx="8412480" cy="328312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566160" y="4956048"/>
            <a:ext cx="5029200" cy="896112"/>
          </a:xfrm>
          <a:prstGeom prst="roundRect">
            <a:avLst>
              <a:gd name="adj" fmla="val 9184"/>
            </a:avLst>
          </a:prstGeom>
          <a:solidFill>
            <a:srgbClr val="F4F5F7"/>
          </a:solidFill>
          <a:ln/>
        </p:spPr>
      </p:sp>
      <p:pic>
        <p:nvPicPr>
          <p:cNvPr id="10" name="Image 3" descr="../fig_v3/f_cor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256" y="5184648"/>
            <a:ext cx="3973009" cy="4389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520" y="603504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 significa: sabiendo la producción de hace tres meses, ya sé casi toda la de este mes.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3 — El resultado para nuestro pozo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Repetimos esa correlación para cada retraso posible, de 1 a 180 días. Eso es un correlograma.</a:t>
            </a:r>
            <a:endParaRPr lang="en-US" sz="1500" dirty="0"/>
          </a:p>
        </p:txBody>
      </p:sp>
      <p:pic>
        <p:nvPicPr>
          <p:cNvPr id="8" name="Image 2" descr="../fig_v3/a8_a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7589520" cy="32928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49640" y="1828800"/>
            <a:ext cx="2926080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8787384" y="19933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787384" y="2395728"/>
            <a:ext cx="24505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es una correlación. Alta y bajando despacio = mucha memoria.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549640" y="38862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8787384" y="40507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veredicto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787384" y="4453128"/>
            <a:ext cx="2450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hay algo que pronosticar. Podemos seguir.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hallazgo mientras explorábamos: 20 filas imposibles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Filtrando la columna horas aparecen 20 días con más de 24 horas. Parecen errores de captura.</a:t>
            </a:r>
            <a:endParaRPr lang="en-US" sz="1500" dirty="0"/>
          </a:p>
        </p:txBody>
      </p:sp>
      <p:pic>
        <p:nvPicPr>
          <p:cNvPr id="8" name="Image 2" descr="../fig_v3/a9_d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7498080" cy="30888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412480" y="178308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8650224" y="1947672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50224" y="2350008"/>
            <a:ext cx="25877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caen el último domingo de octubre. Y los últimos domingos de marzo marcan 23 h.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412480" y="406908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8650224" y="4233672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650224" y="4636008"/>
            <a:ext cx="2587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cambio de horario noruego: hay días de 23 y de 25 horas.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medidor no se equivocó: el calendario es así. El eje del tiempo también es un dato que se audita.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hallazgo: el pozo 15/9-F-12 en diciembre de 2014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pozo estuvo cerrado un mes entero. Cuando reabrió, produjo cinco veces más y con mucha menos agua.</a:t>
            </a:r>
            <a:endParaRPr lang="en-US" sz="1500" dirty="0"/>
          </a:p>
        </p:txBody>
      </p:sp>
      <p:pic>
        <p:nvPicPr>
          <p:cNvPr id="8" name="Image 2" descr="../fig_v3/a10_even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492240" cy="373303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498080" y="1828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7735824" y="1993392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 aquí?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735824" y="2395728"/>
            <a:ext cx="3502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lo hace un yacimiento solo. El dato dice dónde; la experiencia de ustedes dice qué.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498080" y="37033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7735824" y="3867912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significa para el modelo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735824" y="4270248"/>
            <a:ext cx="35021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pronostica el yacimiento, no las decisiones de la gente. Por eso el pronóstico se entrega con una condición: «válido mientras no haya intervención».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4 — Describir cada mes con dos números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agrupar meses parecidos primero hay que decir en qué se parecen. Elegimos dos características de cada mes.</a:t>
            </a:r>
            <a:endParaRPr lang="en-US" sz="1500" dirty="0"/>
          </a:p>
        </p:txBody>
      </p:sp>
      <p:pic>
        <p:nvPicPr>
          <p:cNvPr id="8" name="Image 2" descr="../fig_v3/c7_atribu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943600" cy="381106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040880" y="17830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7278624" y="1947672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1 — la tasa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278624" y="2350008"/>
            <a:ext cx="3959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barriles por día produce el pozo ese mes (ya corregida por horas).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040880" y="356616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4F5F7"/>
          </a:solidFill>
          <a:ln/>
        </p:spPr>
      </p:sp>
      <p:sp>
        <p:nvSpPr>
          <p:cNvPr id="13" name="Text 8"/>
          <p:cNvSpPr/>
          <p:nvPr/>
        </p:nvSpPr>
        <p:spPr>
          <a:xfrm>
            <a:off x="7278624" y="3730752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2 — el corte de agua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278624" y="4133088"/>
            <a:ext cx="3959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fracción de todo el líquido que sale es agua. Sube con los años.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040880" y="5349240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FBEBED"/>
          </a:solidFill>
          <a:ln/>
        </p:spPr>
      </p:sp>
      <p:sp>
        <p:nvSpPr>
          <p:cNvPr id="16" name="Text 11"/>
          <p:cNvSpPr/>
          <p:nvPr/>
        </p:nvSpPr>
        <p:spPr>
          <a:xfrm>
            <a:off x="7278624" y="553212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6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queda convertido en un punto del gráfico.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4 — K-means agrupa los puntos vecinos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K-means del Módulo 4: le pedimos tres grupos y él encuentra qué meses se parecen entre sí. Nadie le dice cuáles.</a:t>
            </a:r>
            <a:endParaRPr lang="en-US" sz="1500" dirty="0"/>
          </a:p>
        </p:txBody>
      </p:sp>
      <p:pic>
        <p:nvPicPr>
          <p:cNvPr id="8" name="Image 2" descr="../fig_v3/a11_regime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737360"/>
            <a:ext cx="10058400" cy="43683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603504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Encontró las tres etapas de la vida del pozo — y ninguna estaba etiquetada en el archivo.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5 — DBSCAN señala los días que no encajan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otro algoritmo del Módulo 4. A diferencia de K-means, este puede decir «este punto no pertenece a ningún grupo».</a:t>
            </a:r>
            <a:endParaRPr lang="en-US" sz="1500" dirty="0"/>
          </a:p>
        </p:txBody>
      </p:sp>
      <p:pic>
        <p:nvPicPr>
          <p:cNvPr id="8" name="Image 2" descr="../fig_v3/a12_anomali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691640"/>
            <a:ext cx="10058400" cy="383536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" y="5074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969264" y="5239512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 esos días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69264" y="5641848"/>
            <a:ext cx="4873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Caídas bruscas, picos de medición, arranques después de un cierre.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080760" y="50749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6318504" y="523951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nos sirve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18504" y="5641848"/>
            <a:ext cx="4919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lista de días a revisar antes de entrenar cualquier modelo.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exploración nos dejó decidido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EDA no era un trámite: de aquí salieron seis decisiones concretas para el pronóstico.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3309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vimos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decidimos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columna horas explica caídas que no son del pozo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Trabajar con la tasa corregida, no con oil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ceros son cierres operativos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Excluir esos días del entrenamiento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F-4 y F-5 son inyectores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Quedarnos solo con el pozo del encargo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escala logarítmica la caída es una recta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Nuestro modelo será una recta sobre el logaritmo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serie tiene mucha memoria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hay algo que pronosticar: seguimos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pozo vivió tres etapas distintas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1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Entrenar solo con la etapa actual, no con 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D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decisión es la que más va a valer. Ya veremos cuánto.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6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white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700317" cy="310896"/>
          </a:xfrm>
          <a:prstGeom prst="rect">
            <a:avLst/>
          </a:prstGeom>
        </p:spPr>
      </p:pic>
      <p:pic>
        <p:nvPicPr>
          <p:cNvPr id="3" name="Image 1" descr="../logos/SLB_white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730973" cy="4389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D89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sabremos si acertamos?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82880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 el pronóstico: definir cómo se juzga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– 80 min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Primero: contra qué nos comparamos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96 barriles por día, ¿es bueno o malo? La pregunta no tiene respuesta sin una referencia.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011680" y="164592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FBEBED"/>
          </a:solidFill>
          <a:ln/>
        </p:spPr>
      </p:sp>
      <p:sp>
        <p:nvSpPr>
          <p:cNvPr id="9" name="Text 5"/>
          <p:cNvSpPr/>
          <p:nvPr/>
        </p:nvSpPr>
        <p:spPr>
          <a:xfrm>
            <a:off x="2011680" y="164592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mes que viene producirá lo mismo que este mes»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31520" y="3063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pronóstico ingenuo: el más tonto posible.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011680" y="365760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cuesta nada: no tiene parámetros ni requiere entrenamiento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sorprendentemente difícil de vencer cuando la serie tiene mucha memoria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mínimo aceptable: un modelo que no le gana, no se presenta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2 este pronóstico «tonto» le va a ganar 13 a 1 a un Random Forest. Conviene llegar con humildad.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medida principal: el error típico (MAE)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mes, cuánto nos equivocamos. Después promediamos. Eso es todo.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6459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/>
        </p:spPr>
      </p:sp>
      <p:pic>
        <p:nvPicPr>
          <p:cNvPr id="9" name="Image 2" descr="../fig_v3/f_ma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35" y="1874520"/>
            <a:ext cx="4631570" cy="914400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48920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234440"/>
                <a:gridCol w="1463040"/>
                <a:gridCol w="1143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Pronóstico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2B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599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539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583680" y="39319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=  (39 + 1 + 55 + 45) / 4  =  35 barriles por día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731520" y="32918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BEBED"/>
          </a:solidFill>
          <a:ln/>
        </p:spPr>
      </p:sp>
      <p:sp>
        <p:nvSpPr>
          <p:cNvPr id="13" name="Text 7"/>
          <p:cNvSpPr/>
          <p:nvPr/>
        </p:nvSpPr>
        <p:spPr>
          <a:xfrm>
            <a:off x="969264" y="3474720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8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directo: «en un mes cualquiera, este pronóstico se equivoca por unos 35 barriles al día».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MAE — error absoluto medio — pero lo importante es que se entiende sin traducción.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tres medidas, para otras tres preguntas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es «la buena». Cada una responde algo distinto, y conviene reportar más de una.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6916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4F5F7"/>
          </a:solidFill>
          <a:ln/>
        </p:spPr>
      </p:sp>
      <p:pic>
        <p:nvPicPr>
          <p:cNvPr id="9" name="Image 2" descr="../fig_v3/f_rm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965960"/>
            <a:ext cx="2926080" cy="670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9264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graves son mis peores meses?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69264" y="39776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Castiga los errores grandes mucho más que los chicos.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434840" y="16916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4F5F7"/>
          </a:solidFill>
          <a:ln/>
        </p:spPr>
      </p:sp>
      <p:pic>
        <p:nvPicPr>
          <p:cNvPr id="13" name="Image 3" descr="../fig_v3/f_ma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965960"/>
            <a:ext cx="2926080" cy="7147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72584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porcentaje me equivoco?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672584" y="39776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se dispara cuando la producción es casi cero.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138160" y="16916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4F5F7"/>
          </a:solidFill>
          <a:ln/>
        </p:spPr>
      </p:sp>
      <p:pic>
        <p:nvPicPr>
          <p:cNvPr id="17" name="Image 4" descr="../fig_v3/f_ses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65960"/>
            <a:ext cx="2926080" cy="7062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75904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equivoco siempre para el mismo lado?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8375904" y="39776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sale positivo, me quedo corto sistemáticamente.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práctica: se reportan siempre el error típico y el sesgo. Los otros, según el caso.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conviene mirar más de una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pronósticos del mismo pozo. Uno gana con una medida y pierde con la otra. ¿Cuál prefiere la operación?</a:t>
            </a:r>
            <a:endParaRPr lang="en-US" sz="1500" dirty="0"/>
          </a:p>
        </p:txBody>
      </p:sp>
      <p:pic>
        <p:nvPicPr>
          <p:cNvPr id="8" name="Image 2" descr="../fig_v3/a14_metric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691640"/>
            <a:ext cx="10058400" cy="41671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facilidades no toleran un mes con 480 barriles de error, la respuesta es A — aunque «en promedio» B parezca mejor.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no es un número: crece con la distancia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equivoca el pronóstico ingenuo según cuántos meses adelante le pidamos.</a:t>
            </a:r>
            <a:endParaRPr lang="en-US" sz="1500" dirty="0"/>
          </a:p>
        </p:txBody>
      </p:sp>
      <p:pic>
        <p:nvPicPr>
          <p:cNvPr id="8" name="Image 2" descr="../fig_v3/a13_horizon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7498080" cy="396495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412480" y="187452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10" name="Text 5"/>
          <p:cNvSpPr/>
          <p:nvPr/>
        </p:nvSpPr>
        <p:spPr>
          <a:xfrm>
            <a:off x="8650224" y="2039112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implica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50224" y="2441448"/>
            <a:ext cx="2587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de error no describe nada. El pronóstico se entrega como una tabla: a un mes, a tres, a seis.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412480" y="388620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BEBED"/>
          </a:solidFill>
          <a:ln/>
        </p:spPr>
      </p:sp>
      <p:sp>
        <p:nvSpPr>
          <p:cNvPr id="13" name="Text 8"/>
          <p:cNvSpPr/>
          <p:nvPr/>
        </p:nvSpPr>
        <p:spPr>
          <a:xfrm>
            <a:off x="8650224" y="4050792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eso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650224" y="4453128"/>
            <a:ext cx="2587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horizonte se acuerda con quien va a usar el pronóstico, antes de modelar.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error, traducido al idioma de gerencia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barriles por día se convierte en dinero con una multiplicación.</a:t>
            </a:r>
            <a:endParaRPr lang="en-US" sz="1500" dirty="0"/>
          </a:p>
        </p:txBody>
      </p:sp>
      <p:pic>
        <p:nvPicPr>
          <p:cNvPr id="8" name="Image 2" descr="../fig_v3/a15_cos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7223760" cy="352022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138160" y="1874520"/>
            <a:ext cx="3337560" cy="1188720"/>
          </a:xfrm>
          <a:prstGeom prst="roundRect">
            <a:avLst>
              <a:gd name="adj" fmla="val 6923"/>
            </a:avLst>
          </a:prstGeom>
          <a:solidFill>
            <a:srgbClr val="F4F5F7"/>
          </a:solidFill>
          <a:ln/>
        </p:spPr>
      </p:sp>
      <p:pic>
        <p:nvPicPr>
          <p:cNvPr id="10" name="Image 3" descr="../fig_v3/f_cos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348109"/>
            <a:ext cx="2697480" cy="241541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8138160" y="329184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BEBED"/>
          </a:solidFill>
          <a:ln/>
        </p:spPr>
      </p:sp>
      <p:sp>
        <p:nvSpPr>
          <p:cNvPr id="12" name="Text 6"/>
          <p:cNvSpPr/>
          <p:nvPr/>
        </p:nvSpPr>
        <p:spPr>
          <a:xfrm>
            <a:off x="8375904" y="345643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375904" y="3858768"/>
            <a:ext cx="2862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Equivocarse en 100 barriles al día durante un mes ≈ 210 mil dólares.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8138160" y="48006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5" name="Text 9"/>
          <p:cNvSpPr/>
          <p:nvPr/>
        </p:nvSpPr>
        <p:spPr>
          <a:xfrm>
            <a:off x="8375904" y="496519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es simétrico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375904" y="5367528"/>
            <a:ext cx="2862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Pasarse suele costar más que quedarse corto.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6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white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700317" cy="310896"/>
          </a:xfrm>
          <a:prstGeom prst="rect">
            <a:avLst/>
          </a:prstGeom>
        </p:spPr>
      </p:pic>
      <p:pic>
        <p:nvPicPr>
          <p:cNvPr id="3" name="Image 1" descr="../logos/SLB_white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730973" cy="4389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D89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pronóstico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82880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 lo anterior decidido, construirlo toma tres líneas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95 min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del modelo ya la vimos en la exploración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escala logarítmica, la caída del pozo era casi una línea recta. Entonces ajustemos una recta.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377440" y="1691640"/>
            <a:ext cx="7406640" cy="1280160"/>
          </a:xfrm>
          <a:prstGeom prst="roundRect">
            <a:avLst>
              <a:gd name="adj" fmla="val 6429"/>
            </a:avLst>
          </a:prstGeom>
          <a:solidFill>
            <a:srgbClr val="F4F5F7"/>
          </a:solidFill>
          <a:ln/>
        </p:spPr>
      </p:sp>
      <p:pic>
        <p:nvPicPr>
          <p:cNvPr id="9" name="Image 2" descr="../fig_v3/f_mode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465" y="1842516"/>
            <a:ext cx="4218590" cy="59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51760" y="240487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logaritmo de la tasa baja de forma aproximadamente constante mes a mes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731520" y="32918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/>
        </p:spPr>
      </p:sp>
      <p:sp>
        <p:nvSpPr>
          <p:cNvPr id="12" name="Text 7"/>
          <p:cNvSpPr/>
          <p:nvPr/>
        </p:nvSpPr>
        <p:spPr>
          <a:xfrm>
            <a:off x="969264" y="3456432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regresión del Módulo 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69264" y="3858768"/>
            <a:ext cx="48737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clase, misma sintaxis, mismo .fit(). Lo único distinto: la variable de entrada es el tiempo, y la de salida es el logaritmo de la tasa.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080760" y="3291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BEBED"/>
          </a:solidFill>
          <a:ln/>
        </p:spPr>
      </p:sp>
      <p:sp>
        <p:nvSpPr>
          <p:cNvPr id="15" name="Text 10"/>
          <p:cNvSpPr/>
          <p:nvPr/>
        </p:nvSpPr>
        <p:spPr>
          <a:xfrm>
            <a:off x="6318504" y="345643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una recta y no un árbol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18504" y="3858768"/>
            <a:ext cx="49194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de decisión nunca predice un valor fuera del rango que vio entrenando. Un pozo en declinación siempre sale de ese rango. Una recta sí puede seguir bajando.</a:t>
            </a:r>
            <a:endParaRPr lang="en-US" sz="1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completo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líneas. Todo el trabajo difícil ya lo hicimos en la exploración.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737360"/>
            <a:ext cx="6400800" cy="2117979"/>
          </a:xfrm>
          <a:prstGeom prst="roundRect">
            <a:avLst>
              <a:gd name="adj" fmla="val 3022"/>
            </a:avLst>
          </a:prstGeom>
          <a:solidFill>
            <a:srgbClr val="F4F5F7"/>
          </a:solidFill>
          <a:ln w="9525">
            <a:solidFill>
              <a:srgbClr val="E7E9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1618488"/>
            <a:ext cx="932688" cy="237744"/>
          </a:xfrm>
          <a:prstGeom prst="rect">
            <a:avLst/>
          </a:prstGeom>
          <a:solidFill>
            <a:srgbClr val="C82B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69264" y="1920240"/>
            <a:ext cx="5943600" cy="180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71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350" dirty="0"/>
          </a:p>
          <a:p>
            <a:pPr indent="0" marL="0">
              <a:lnSpc>
                <a:spcPts val="1971"/>
              </a:lnSpc>
              <a:buNone/>
            </a:pPr>
            <a:endParaRPr lang="en-US" sz="1350" dirty="0"/>
          </a:p>
          <a:p>
            <a:pPr indent="0" marL="0">
              <a:lnSpc>
                <a:spcPts val="1971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corte honesto: solo lo anterior al origen</a:t>
            </a:r>
            <a:endParaRPr lang="en-US" sz="1350" dirty="0"/>
          </a:p>
          <a:p>
            <a:pPr indent="0" marL="0">
              <a:lnSpc>
                <a:spcPts val="1971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 = mensual[mensual.index &lt;= '2014-01-31']</a:t>
            </a:r>
            <a:endParaRPr lang="en-US" sz="1350" dirty="0"/>
          </a:p>
          <a:p>
            <a:pPr indent="0" marL="0">
              <a:lnSpc>
                <a:spcPts val="1971"/>
              </a:lnSpc>
              <a:buNone/>
            </a:pPr>
            <a:endParaRPr lang="en-US" sz="1350" dirty="0"/>
          </a:p>
          <a:p>
            <a:pPr indent="0" marL="0">
              <a:lnSpc>
                <a:spcPts val="1971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= np.arange(len(tr)).reshape(-1, 1)</a:t>
            </a:r>
            <a:endParaRPr lang="en-US" sz="1350" dirty="0"/>
          </a:p>
          <a:p>
            <a:pPr indent="0" marL="0">
              <a:lnSpc>
                <a:spcPts val="1971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LinearRegression().fit(t, np.log(tr))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498080" y="173736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BEBED"/>
          </a:solidFill>
          <a:ln/>
        </p:spPr>
      </p:sp>
      <p:sp>
        <p:nvSpPr>
          <p:cNvPr id="12" name="Text 8"/>
          <p:cNvSpPr/>
          <p:nvPr/>
        </p:nvSpPr>
        <p:spPr>
          <a:xfrm>
            <a:off x="7735824" y="1901952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que importa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35824" y="2304288"/>
            <a:ext cx="3502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por fecha. Sin él, el modelo entrena con datos que el 31 de enero de 2014 todavía no existían.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98080" y="384048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15" name="Text 11"/>
          <p:cNvSpPr/>
          <p:nvPr/>
        </p:nvSpPr>
        <p:spPr>
          <a:xfrm>
            <a:off x="7735824" y="4005072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para pronosticar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35824" y="4407408"/>
            <a:ext cx="35021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la recta en los meses futuros y se deshace el logaritmo con np.exp().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que multiplica por tres la precisión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el mismo en los tres casos. Lo único que cambia es con qué parte de la historia lo entrenamos.</a:t>
            </a:r>
            <a:endParaRPr lang="en-US" sz="1500" dirty="0"/>
          </a:p>
        </p:txBody>
      </p:sp>
      <p:pic>
        <p:nvPicPr>
          <p:cNvPr id="8" name="Image 2" descr="../fig_v3/a16_mode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691640"/>
            <a:ext cx="9692640" cy="40191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98932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toda la historia, la recta PIERDE contra el pronóstico ingenuo. Con solo el último año, le gana tres veces.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pasa eso — y de dónde salió la respuesta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ajustada con nueve años mezcla tres pozos distintos: el de 2008, el de 2011 y el de 2013.</a:t>
            </a:r>
            <a:endParaRPr lang="en-US" sz="1500" dirty="0"/>
          </a:p>
        </p:txBody>
      </p:sp>
      <p:pic>
        <p:nvPicPr>
          <p:cNvPr id="8" name="Image 2" descr="../fig_v3/a11_regime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5989320" cy="26011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ya nos lo había dicho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731520" y="23317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exploración encontramos que el pozo vivió tres etapas. Entrenar con las tres es pedirle a una sola recta que describa tres comportamientos distintos.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solo con la etapa actual — el último año — es darle al modelo el pozo que tiene enfrente hoy.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731520" y="489204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BEBED"/>
          </a:solidFill>
          <a:ln/>
        </p:spPr>
      </p:sp>
      <p:sp>
        <p:nvSpPr>
          <p:cNvPr id="12" name="Text 7"/>
          <p:cNvSpPr/>
          <p:nvPr/>
        </p:nvSpPr>
        <p:spPr>
          <a:xfrm>
            <a:off x="969264" y="5074920"/>
            <a:ext cx="409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8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EDA no era decoración: fue el que eligió el tramo de entrenamiento.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encargo, respondido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de la lámina anterior, en el idioma del presupuesto.</a:t>
            </a:r>
            <a:endParaRPr lang="en-US" sz="1500" dirty="0"/>
          </a:p>
        </p:txBody>
      </p:sp>
      <p:pic>
        <p:nvPicPr>
          <p:cNvPr id="8" name="Image 2" descr="../fig_v3/a17_result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1645920"/>
            <a:ext cx="9966960" cy="31111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" y="4663440"/>
            <a:ext cx="10725912" cy="1371600"/>
          </a:xfrm>
          <a:prstGeom prst="roundRect">
            <a:avLst>
              <a:gd name="adj" fmla="val 5333"/>
            </a:avLst>
          </a:prstGeom>
          <a:solidFill>
            <a:srgbClr val="6B1525"/>
          </a:solidFill>
          <a:ln/>
        </p:spPr>
      </p:sp>
      <p:sp>
        <p:nvSpPr>
          <p:cNvPr id="10" name="Text 5"/>
          <p:cNvSpPr/>
          <p:nvPr/>
        </p:nvSpPr>
        <p:spPr>
          <a:xfrm>
            <a:off x="969264" y="4846320"/>
            <a:ext cx="10250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50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entrega a gerencia:  pronóstico mensual de febrero a julio de 2014, con un error esperado de unos 30 barriles por día — unos 62 mil dólares al mes — entrenado con el comportamiento actual del pozo y válido mientras no haya intervención.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6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white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700317" cy="310896"/>
          </a:xfrm>
          <a:prstGeom prst="rect">
            <a:avLst/>
          </a:prstGeom>
        </p:spPr>
      </p:pic>
      <p:pic>
        <p:nvPicPr>
          <p:cNvPr id="3" name="Image 1" descr="../logos/SLB_white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384048"/>
            <a:ext cx="730973" cy="4389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0" kern="0" dirty="0">
                <a:solidFill>
                  <a:srgbClr val="D89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TURNO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pozo 15/9-F-11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82880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B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encargo, otro pozo — y una sorpresa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– 120 min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005840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30 de junio de 2015. Gerencia ahora pide el 15/9-F-11, el pozo más joven del campo. Mismos 6 meses.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98448" y="176479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Conozcan el pozo: días registrados, huecos, días cerrados, días parciales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2441448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98448" y="242316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la tasa corregida y resúmanla mes a mes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3099816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298448" y="308152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Explórenlo: escala logarítmica, media y mediana móvil, autocorrelación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31520" y="3758184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298448" y="3739896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Identifiquen los tres eventos más importantes de su historia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31520" y="4416552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298448" y="439826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Calculen el pronóstico ingenuo — ese es el número a vencer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C82B40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298448" y="505663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Ajusten la recta: con toda la historia y con el último año. Comparen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731520" y="5806440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FBEBED"/>
          </a:solidFill>
          <a:ln/>
        </p:spPr>
      </p:sp>
      <p:sp>
        <p:nvSpPr>
          <p:cNvPr id="27" name="Text 23"/>
          <p:cNvSpPr/>
          <p:nvPr/>
        </p:nvSpPr>
        <p:spPr>
          <a:xfrm>
            <a:off x="969264" y="5989320"/>
            <a:ext cx="10250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Entregan una sola cosa: el número que firmarían, y una frase explicando con qué historia lo entrenaron.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llevan hoy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645920"/>
            <a:ext cx="5760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Resolvieron un encargo real, de la pregunta de gerencia al número entregado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regresión lineal que ya sabían — solo cambió qué se pone en el eje X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Aprendieron a leer un archivo de producción columna por columna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 corregir la variable antes de modelar nada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herramientas de exploración, cada una con su para qué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 medir el error en barriles y en dólares, contra una referencia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858000" y="1645920"/>
            <a:ext cx="4617720" cy="1463040"/>
          </a:xfrm>
          <a:prstGeom prst="roundRect">
            <a:avLst>
              <a:gd name="adj" fmla="val 5000"/>
            </a:avLst>
          </a:prstGeom>
          <a:solidFill>
            <a:srgbClr val="6B1525"/>
          </a:solidFill>
          <a:ln/>
        </p:spPr>
      </p:sp>
      <p:sp>
        <p:nvSpPr>
          <p:cNvPr id="9" name="Text 5"/>
          <p:cNvSpPr/>
          <p:nvPr/>
        </p:nvSpPr>
        <p:spPr>
          <a:xfrm>
            <a:off x="7095744" y="1828800"/>
            <a:ext cx="4142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8"/>
              </a:lnSpc>
              <a:buNone/>
            </a:pPr>
            <a:r>
              <a:rPr lang="en-US" sz="145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gobierna todo el módulo:  ningún cálculo puede usar información que no existía en el momento que se está describiendo.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858000" y="3291840"/>
            <a:ext cx="4617720" cy="1600200"/>
          </a:xfrm>
          <a:prstGeom prst="roundRect">
            <a:avLst>
              <a:gd name="adj" fmla="val 4571"/>
            </a:avLst>
          </a:prstGeom>
          <a:solidFill>
            <a:srgbClr val="FBEBED"/>
          </a:solidFill>
          <a:ln/>
        </p:spPr>
      </p:sp>
      <p:sp>
        <p:nvSpPr>
          <p:cNvPr id="11" name="Text 7"/>
          <p:cNvSpPr/>
          <p:nvPr/>
        </p:nvSpPr>
        <p:spPr>
          <a:xfrm>
            <a:off x="7095744" y="3456432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próxima clase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95744" y="3858768"/>
            <a:ext cx="4142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declinación de Arps, y por qué el mismo modelo puede parecer excelente y ser inservible según cómo se partan los datos.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0" y="5120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pensar: si el pronóstico ingenuo le gana a su modelo, ¿qué entrega usted?</a:t>
            </a:r>
            <a:endParaRPr lang="en-US" sz="14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logos/logo_udla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660630" cy="292608"/>
          </a:xfrm>
          <a:prstGeom prst="rect">
            <a:avLst/>
          </a:prstGeom>
        </p:spPr>
      </p:pic>
      <p:pic>
        <p:nvPicPr>
          <p:cNvPr id="3" name="Image 1" descr="../logos/SLB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60914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Petroleum Engineers Using Python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110002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referencias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31520" y="17373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▸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Volve — Equinor ASA, dataset abierto (2018). Producción diaria de 7 pozos, 2007–2016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▸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Hyndman &amp; Athanasopoulos — Forecasting: Principles and Practice, 3.ª edición, gratuito en otexts.com/fpp3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▸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guía de series de tiempo: pandas.pydata.org/docs/user_guide/timeseries.html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▸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LinearRegression, KMeans y DBSCAN: scikit-learn.org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▸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Arps, J. J. (1945) — Analysis of Decline Curves. La referencia de la próxima clase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1520" y="5120640"/>
            <a:ext cx="10725912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</p:sp>
      <p:sp>
        <p:nvSpPr>
          <p:cNvPr id="9" name="Text 5"/>
          <p:cNvSpPr/>
          <p:nvPr/>
        </p:nvSpPr>
        <p:spPr>
          <a:xfrm>
            <a:off x="969264" y="5303520"/>
            <a:ext cx="10250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8"/>
              </a:lnSpc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material está en el repositorio del diplomado: esta presentación, el cuaderno de Google Colab (los datos se cargan solos desde internet) y una chuleta de una página.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5 · Clase 1 — Pronosticar la producción de un pozo</dc:title>
  <dc:subject>PptxGenJS Presentation</dc:subject>
  <dc:creator>Carlos Enrique Mosquera Trujillo</dc:creator>
  <cp:lastModifiedBy>Carlos Enrique Mosquera Trujillo</cp:lastModifiedBy>
  <cp:revision>1</cp:revision>
  <dcterms:created xsi:type="dcterms:W3CDTF">2026-08-11T20:53:40Z</dcterms:created>
  <dcterms:modified xsi:type="dcterms:W3CDTF">2026-08-11T20:53:40Z</dcterms:modified>
</cp:coreProperties>
</file>